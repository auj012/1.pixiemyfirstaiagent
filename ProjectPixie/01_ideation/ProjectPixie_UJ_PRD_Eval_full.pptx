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2" r:id="rId4"/>
    <p:sldId id="260" r:id="rId5"/>
    <p:sldId id="263" r:id="rId6"/>
    <p:sldId id="266" r:id="rId7"/>
    <p:sldId id="264" r:id="rId8"/>
    <p:sldId id="265" r:id="rId9"/>
    <p:sldId id="272" r:id="rId10"/>
    <p:sldId id="267" r:id="rId11"/>
    <p:sldId id="268" r:id="rId12"/>
    <p:sldId id="273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A28A-F1AC-4093-B698-E8EFF95ED3C7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8E2F5-F3C0-48E1-843B-318F9823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2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project. The three stats on the right are your hook — lead with the human scale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60 seconds max. Lead with the personal story at the bottom. It's your strongest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BB3-6134-DA10-9DB1-0EF5E6CDE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DD16F-871F-C0EE-445B-BB428506D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5596-DF40-8984-5964-8F8A870C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49B6-ADCC-C37C-193E-09F05E6A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92308-ACCA-811C-D86C-541C1C9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6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79BA-D448-288E-D813-03D00AF9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92DE-B694-CC41-CFA9-097431CB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3B677-1682-58D6-AA9A-C9F75BAB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13805-B17E-991F-0DFB-D8B530340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8BC70-2726-1AA7-064F-0927647D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7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9C79-6259-1C0C-4481-E6C2A55B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876E1-C956-33EC-B518-39C0E4F06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815A-C22C-902A-2C54-98C9678A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9A39-AA73-1975-5E0A-BBB5F7AE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0CF6-D072-DC17-488A-D23F1B70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4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CBEB-74AE-A625-7D5E-06BF43C8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88B8-5F25-254A-2A4B-87E244FB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1296A-0CC0-0C54-2168-572905912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96392-BE30-70E0-D56D-3CDFE55A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CC84-766A-33B5-E97C-6AEEC137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F6E1-1F15-ED87-E661-A902792D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1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2CF2-B6E6-A248-58F8-732D836A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FF610-806C-20D6-E3B4-4E58B02E6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82C9C-FFF5-67EA-2D81-EEC992BB3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B5622-EC8C-CF85-52C9-ECDB831B6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3040A-29FC-6990-A47D-F282BC31B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45AD0-35AD-3992-39E9-05B26C5E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561509-9A85-00ED-1A82-FE11453E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05A68-AD3F-251F-3446-70F4D928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4473-1E36-563E-09CC-48A8F5C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6CB21-FE17-7053-C4C3-6326D81C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BDA2-7BA5-471A-7385-F294F12B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929BB-2F23-06D7-1A49-A334E148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FAEB0-2CA0-57BA-781D-CB9812FC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A025F-3617-4020-40DA-3D7CECC1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194EC-957C-F8A5-3E36-24ADCCD2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4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636A-64CF-C1F2-2384-DF6072A2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6280-DC1D-D9B1-BD6C-C6593AEB0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A9B8-07C6-D7DB-62B1-1D4D87D56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9A313-185A-6E76-AEE2-0A49842F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2711D-B783-1BEE-0E38-0CE1B1FF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A8966-3C93-CD46-9B02-C2E580C5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3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E646-CE5F-CDC3-F976-CCA1FA31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32D2E-FAAD-16A6-5C70-E28C2F2AB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BFB7-F89F-61C1-ED82-1C38A1850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92C50-28EF-37E0-10C9-2E2AD3CF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3E9A-545F-7F0D-5324-89C72EA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30D5-4A54-3F8F-D796-EBB780BD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DB29-0B14-7424-29BB-F74FCC3D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6949C-D6D7-2E31-2CCB-F934038A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648B-EF66-A598-270E-1470D3F0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6BD9A-A2B6-33F5-CEEA-89BFDB25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EAE9C-81B4-173A-045C-DA3EB625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3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8E593-915A-B3B6-C092-A69D065AD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D9AEC-6F9B-7F10-9CB7-01E063245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F7C6-5E09-9888-8293-8487E004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4A35-9637-2F3A-EACC-43CB05E8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81D41-16F4-569D-5359-4358FB00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88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18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2AD99-DADB-916D-D575-CE2414BD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901E8-8AA2-331B-C359-4377FA6FF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A88BC-F1BC-E9D8-EBBC-7B28C49D1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880AB-0597-4EAA-B12A-A152E3120D3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3806F-818C-B470-2EBE-9EB2ECE62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B2E9-438A-CEB3-4610-565242296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7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auj012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438"/>
            <a:ext cx="12192000" cy="68580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21945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5" name="Text 3"/>
          <p:cNvSpPr/>
          <p:nvPr/>
        </p:nvSpPr>
        <p:spPr>
          <a:xfrm>
            <a:off x="609599" y="731520"/>
            <a:ext cx="11277601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533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Pixie: Personalized Cultural &amp; Linguistic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1975104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Name Analysis Agent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609599" y="2466407"/>
            <a:ext cx="4040039" cy="57337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52425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Ushasree Jakilinki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609600" y="5754624"/>
            <a:ext cx="6096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Engineer → Aspiring Data Scientist + Agentic AI Developer </a:t>
            </a:r>
            <a:endParaRPr lang="en-US" sz="1467" dirty="0"/>
          </a:p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UofM Master's in Applied Data Science (2025)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51104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40000"/>
              </a:lnSpc>
            </a:pPr>
            <a:endParaRPr lang="en-US" sz="2133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036D80E-1AC6-19C8-51EF-99BB9A3E2973}"/>
              </a:ext>
            </a:extLst>
          </p:cNvPr>
          <p:cNvSpPr/>
          <p:nvPr/>
        </p:nvSpPr>
        <p:spPr>
          <a:xfrm flipV="1">
            <a:off x="609599" y="3077847"/>
            <a:ext cx="7861541" cy="5549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3F0AE1A-3598-9918-3DEB-6879C0AB02A9}"/>
              </a:ext>
            </a:extLst>
          </p:cNvPr>
          <p:cNvSpPr/>
          <p:nvPr/>
        </p:nvSpPr>
        <p:spPr>
          <a:xfrm>
            <a:off x="609599" y="2552211"/>
            <a:ext cx="786154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https://github.com/auj012/AIAgentLearning/tree/main/ProjectPixie</a:t>
            </a:r>
            <a:endParaRPr lang="en-US" sz="21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24384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152400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1853184"/>
            <a:ext cx="902208" cy="902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0416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344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85344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Engineering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Mobile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420624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36" y="1853184"/>
            <a:ext cx="902208" cy="9022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3568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Tech CSE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353568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688848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976" y="1853184"/>
            <a:ext cx="902208" cy="9022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6864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1792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AI/DS Pivot</a:t>
            </a:r>
            <a:endParaRPr lang="en-US" sz="1733" dirty="0"/>
          </a:p>
        </p:txBody>
      </p:sp>
      <p:sp>
        <p:nvSpPr>
          <p:cNvPr id="18" name="Text 13"/>
          <p:cNvSpPr/>
          <p:nvPr/>
        </p:nvSpPr>
        <p:spPr>
          <a:xfrm>
            <a:off x="621792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67" dirty="0"/>
          </a:p>
        </p:txBody>
      </p:sp>
      <p:sp>
        <p:nvSpPr>
          <p:cNvPr id="19" name="Shape 14"/>
          <p:cNvSpPr/>
          <p:nvPr/>
        </p:nvSpPr>
        <p:spPr>
          <a:xfrm>
            <a:off x="957072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1853184"/>
            <a:ext cx="902208" cy="902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0016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UofM MADS</a:t>
            </a:r>
            <a:endParaRPr lang="en-US" sz="1733" dirty="0"/>
          </a:p>
        </p:txBody>
      </p:sp>
      <p:sp>
        <p:nvSpPr>
          <p:cNvPr id="22" name="Text 16"/>
          <p:cNvSpPr/>
          <p:nvPr/>
        </p:nvSpPr>
        <p:spPr>
          <a:xfrm>
            <a:off x="890016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Applied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2025</a:t>
            </a:r>
            <a:endParaRPr lang="en-US" sz="1467" dirty="0"/>
          </a:p>
        </p:txBody>
      </p:sp>
      <p:sp>
        <p:nvSpPr>
          <p:cNvPr id="23" name="Shape 17"/>
          <p:cNvSpPr/>
          <p:nvPr/>
        </p:nvSpPr>
        <p:spPr>
          <a:xfrm>
            <a:off x="609600" y="4815840"/>
            <a:ext cx="11329358" cy="134112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75360" y="4815840"/>
            <a:ext cx="4267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Pixie?</a:t>
            </a:r>
            <a:endParaRPr lang="en-US" sz="1867" dirty="0"/>
          </a:p>
        </p:txBody>
      </p:sp>
      <p:sp>
        <p:nvSpPr>
          <p:cNvPr id="25" name="Text 19"/>
          <p:cNvSpPr/>
          <p:nvPr/>
        </p:nvSpPr>
        <p:spPr>
          <a:xfrm>
            <a:off x="975360" y="5168373"/>
            <a:ext cx="10607040" cy="561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</a:rPr>
              <a:t>Applying enterprise-grade software engineering principles to build a tightly scoped, reliable, local-first AI agent utility.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ABB9-D4A3-AE36-2765-B36B7557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19959"/>
          </a:xfrm>
        </p:spPr>
        <p:txBody>
          <a:bodyPr>
            <a:normAutofit/>
          </a:bodyPr>
          <a:lstStyle/>
          <a:p>
            <a:r>
              <a:rPr lang="en-US" sz="4000" dirty="0"/>
              <a:t>Problem statement and System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48582-74F8-98B9-4FA2-D8A957082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4732"/>
            <a:ext cx="10988615" cy="4762231"/>
          </a:xfrm>
        </p:spPr>
        <p:txBody>
          <a:bodyPr/>
          <a:lstStyle/>
          <a:p>
            <a:r>
              <a:rPr lang="en-US" dirty="0" err="1"/>
              <a:t>Goal:Build</a:t>
            </a:r>
            <a:r>
              <a:rPr lang="en-US" dirty="0"/>
              <a:t> a local AI agent using </a:t>
            </a:r>
            <a:r>
              <a:rPr lang="en-US" dirty="0" err="1"/>
              <a:t>Ollama</a:t>
            </a:r>
            <a:endParaRPr lang="en-US" dirty="0"/>
          </a:p>
          <a:p>
            <a:r>
              <a:rPr lang="en-US" dirty="0" err="1"/>
              <a:t>Input:A</a:t>
            </a:r>
            <a:r>
              <a:rPr lang="en-US" dirty="0"/>
              <a:t> single name string</a:t>
            </a:r>
          </a:p>
          <a:p>
            <a:r>
              <a:rPr lang="en-US" dirty="0" err="1"/>
              <a:t>Output:A</a:t>
            </a:r>
            <a:r>
              <a:rPr lang="en-US" dirty="0"/>
              <a:t> highly accurate, structured analytics payload containing:</a:t>
            </a:r>
          </a:p>
          <a:p>
            <a:pPr lvl="2"/>
            <a:r>
              <a:rPr lang="en-US" dirty="0"/>
              <a:t> Linguistic Origin Matrix -The geographic and historical language roots. </a:t>
            </a:r>
          </a:p>
          <a:p>
            <a:pPr lvl="2"/>
            <a:r>
              <a:rPr lang="en-US" dirty="0"/>
              <a:t>Literal &amp; Semantic Translation-The exact meaning and historical definitions.</a:t>
            </a:r>
          </a:p>
          <a:p>
            <a:pPr lvl="2"/>
            <a:r>
              <a:rPr lang="en-US" dirty="0"/>
              <a:t>Cultural Metadata -Historical usage trends, variations, or significant notable contexts.</a:t>
            </a:r>
          </a:p>
        </p:txBody>
      </p:sp>
    </p:spTree>
    <p:extLst>
      <p:ext uri="{BB962C8B-B14F-4D97-AF65-F5344CB8AC3E}">
        <p14:creationId xmlns:p14="http://schemas.microsoft.com/office/powerpoint/2010/main" val="426313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C0A248-398F-D1A1-62AF-7A01B5C265D0}"/>
              </a:ext>
            </a:extLst>
          </p:cNvPr>
          <p:cNvSpPr/>
          <p:nvPr/>
        </p:nvSpPr>
        <p:spPr>
          <a:xfrm>
            <a:off x="3077473" y="1899887"/>
            <a:ext cx="372014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a name or string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8572A-31B8-61C3-3198-437E7D7F3B5A}"/>
              </a:ext>
            </a:extLst>
          </p:cNvPr>
          <p:cNvSpPr/>
          <p:nvPr/>
        </p:nvSpPr>
        <p:spPr>
          <a:xfrm>
            <a:off x="7028370" y="1886317"/>
            <a:ext cx="4124147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Meaning + origin of name + other names that sound or mean the same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6B65E-AF6D-05FA-2E9E-32B338E2306A}"/>
              </a:ext>
            </a:extLst>
          </p:cNvPr>
          <p:cNvSpPr txBox="1"/>
          <p:nvPr/>
        </p:nvSpPr>
        <p:spPr>
          <a:xfrm>
            <a:off x="3008461" y="1435666"/>
            <a:ext cx="94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D95D-4DF4-C0BA-0F03-0DC16D06EC59}"/>
              </a:ext>
            </a:extLst>
          </p:cNvPr>
          <p:cNvSpPr txBox="1"/>
          <p:nvPr/>
        </p:nvSpPr>
        <p:spPr>
          <a:xfrm>
            <a:off x="8427648" y="1435666"/>
            <a:ext cx="94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39937E-8252-2A97-401C-38FADD21FE59}"/>
              </a:ext>
            </a:extLst>
          </p:cNvPr>
          <p:cNvSpPr/>
          <p:nvPr/>
        </p:nvSpPr>
        <p:spPr>
          <a:xfrm>
            <a:off x="3077472" y="2932331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a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1C803-EDEA-D399-E591-977533112EFB}"/>
              </a:ext>
            </a:extLst>
          </p:cNvPr>
          <p:cNvSpPr txBox="1"/>
          <p:nvPr/>
        </p:nvSpPr>
        <p:spPr>
          <a:xfrm>
            <a:off x="1149826" y="2930922"/>
            <a:ext cx="1544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Actions by humans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CCEAC-653C-F227-C6DF-731C917E070A}"/>
              </a:ext>
            </a:extLst>
          </p:cNvPr>
          <p:cNvSpPr txBox="1"/>
          <p:nvPr/>
        </p:nvSpPr>
        <p:spPr>
          <a:xfrm>
            <a:off x="835324" y="3895540"/>
            <a:ext cx="2242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Actions by Digital tools and platforms in 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B3A6E-E398-38A2-760A-674871A7C235}"/>
              </a:ext>
            </a:extLst>
          </p:cNvPr>
          <p:cNvSpPr/>
          <p:nvPr/>
        </p:nvSpPr>
        <p:spPr>
          <a:xfrm>
            <a:off x="3077472" y="4018223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D70A3A-2A79-73C9-6829-FBA7F6D95207}"/>
              </a:ext>
            </a:extLst>
          </p:cNvPr>
          <p:cNvSpPr/>
          <p:nvPr/>
        </p:nvSpPr>
        <p:spPr>
          <a:xfrm>
            <a:off x="4321293" y="4018221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D2FF0B-3839-35D4-15F2-0128D1C03736}"/>
              </a:ext>
            </a:extLst>
          </p:cNvPr>
          <p:cNvSpPr/>
          <p:nvPr/>
        </p:nvSpPr>
        <p:spPr>
          <a:xfrm>
            <a:off x="5698290" y="4018221"/>
            <a:ext cx="1086209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9BE8B-6CDB-C0A7-5476-DB78037F7387}"/>
              </a:ext>
            </a:extLst>
          </p:cNvPr>
          <p:cNvSpPr txBox="1"/>
          <p:nvPr/>
        </p:nvSpPr>
        <p:spPr>
          <a:xfrm>
            <a:off x="918712" y="5152139"/>
            <a:ext cx="2242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Associated pain points with current 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7EFA62-A789-1B25-AD10-CA358A3A760D}"/>
              </a:ext>
            </a:extLst>
          </p:cNvPr>
          <p:cNvSpPr/>
          <p:nvPr/>
        </p:nvSpPr>
        <p:spPr>
          <a:xfrm>
            <a:off x="3077472" y="5161202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Manual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3F4DF2-1BD7-CEC0-B948-5C6A583D5B2F}"/>
              </a:ext>
            </a:extLst>
          </p:cNvPr>
          <p:cNvSpPr/>
          <p:nvPr/>
        </p:nvSpPr>
        <p:spPr>
          <a:xfrm>
            <a:off x="4339264" y="5152137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search's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2A1889-34E4-32D8-2F53-02EE924A98B6}"/>
              </a:ext>
            </a:extLst>
          </p:cNvPr>
          <p:cNvSpPr/>
          <p:nvPr/>
        </p:nvSpPr>
        <p:spPr>
          <a:xfrm>
            <a:off x="5738360" y="5152136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prompts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0BE746-F879-E6E4-682F-59F700094C3B}"/>
              </a:ext>
            </a:extLst>
          </p:cNvPr>
          <p:cNvSpPr/>
          <p:nvPr/>
        </p:nvSpPr>
        <p:spPr>
          <a:xfrm>
            <a:off x="4321293" y="2930922"/>
            <a:ext cx="1122152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Search google</a:t>
            </a:r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6D1E58-2C2F-C498-81DD-CBA3F4727921}"/>
              </a:ext>
            </a:extLst>
          </p:cNvPr>
          <p:cNvSpPr/>
          <p:nvPr/>
        </p:nvSpPr>
        <p:spPr>
          <a:xfrm>
            <a:off x="5698014" y="2927605"/>
            <a:ext cx="1122152" cy="792373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Talk to LLM</a:t>
            </a:r>
          </a:p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AD1754-AF9B-0FA1-20A9-898DFADB3239}"/>
              </a:ext>
            </a:extLst>
          </p:cNvPr>
          <p:cNvSpPr/>
          <p:nvPr/>
        </p:nvSpPr>
        <p:spPr>
          <a:xfrm>
            <a:off x="7074735" y="2930922"/>
            <a:ext cx="4077782" cy="792373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Summarize  output</a:t>
            </a:r>
          </a:p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009B3D-9F09-2178-BB18-C04914D1EA6E}"/>
              </a:ext>
            </a:extLst>
          </p:cNvPr>
          <p:cNvSpPr txBox="1"/>
          <p:nvPr/>
        </p:nvSpPr>
        <p:spPr>
          <a:xfrm>
            <a:off x="682739" y="390916"/>
            <a:ext cx="10469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The Current Process &amp; Pain Points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CC266C-48F7-F11C-D047-FE0123C8FA81}"/>
              </a:ext>
            </a:extLst>
          </p:cNvPr>
          <p:cNvSpPr/>
          <p:nvPr/>
        </p:nvSpPr>
        <p:spPr>
          <a:xfrm>
            <a:off x="7079413" y="5161202"/>
            <a:ext cx="1426231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 much time wasted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6AEAC8-4520-0921-0E4F-349804736B01}"/>
              </a:ext>
            </a:extLst>
          </p:cNvPr>
          <p:cNvSpPr/>
          <p:nvPr/>
        </p:nvSpPr>
        <p:spPr>
          <a:xfrm>
            <a:off x="8760487" y="5152135"/>
            <a:ext cx="1426231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fatigue</a:t>
            </a:r>
          </a:p>
        </p:txBody>
      </p:sp>
    </p:spTree>
    <p:extLst>
      <p:ext uri="{BB962C8B-B14F-4D97-AF65-F5344CB8AC3E}">
        <p14:creationId xmlns:p14="http://schemas.microsoft.com/office/powerpoint/2010/main" val="33897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06721-0893-DE6B-33BF-F52161E7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/>
          <a:lstStyle/>
          <a:p>
            <a:r>
              <a:rPr lang="en-US" dirty="0"/>
              <a:t>AI card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5142ECF-D67C-6DC2-4A4D-29723349748E}"/>
              </a:ext>
            </a:extLst>
          </p:cNvPr>
          <p:cNvSpPr txBox="1">
            <a:spLocks/>
          </p:cNvSpPr>
          <p:nvPr/>
        </p:nvSpPr>
        <p:spPr>
          <a:xfrm>
            <a:off x="6172200" y="373692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Risk  mitigation  card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4F84E-3E4F-E083-ABCA-CD743E6E5A09}"/>
              </a:ext>
            </a:extLst>
          </p:cNvPr>
          <p:cNvSpPr/>
          <p:nvPr/>
        </p:nvSpPr>
        <p:spPr>
          <a:xfrm>
            <a:off x="838200" y="1414584"/>
            <a:ext cx="3720140" cy="1250978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Generative AI –Local LLM-</a:t>
            </a:r>
            <a:br>
              <a:rPr lang="en-US" dirty="0"/>
            </a:br>
            <a:r>
              <a:rPr lang="en-US" dirty="0"/>
              <a:t>Powered by </a:t>
            </a:r>
            <a:r>
              <a:rPr lang="en-US" dirty="0" err="1"/>
              <a:t>Ollama</a:t>
            </a:r>
            <a:r>
              <a:rPr lang="en-US" dirty="0"/>
              <a:t> to process data 100% offline with zero cloud subscription costs.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5B10D-5F34-1B61-4AE9-6933016D414F}"/>
              </a:ext>
            </a:extLst>
          </p:cNvPr>
          <p:cNvSpPr/>
          <p:nvPr/>
        </p:nvSpPr>
        <p:spPr>
          <a:xfrm>
            <a:off x="6241210" y="2984739"/>
            <a:ext cx="3937959" cy="1337096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Dignity</a:t>
            </a:r>
            <a:br>
              <a:rPr lang="en-US" dirty="0"/>
            </a:br>
            <a:r>
              <a:rPr lang="en-US" dirty="0"/>
              <a:t>Cultural guardrails ensure diverse and ethnic names are analyzed with historical accuracy, avoiding generic or biased AI definitions.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7C642A-1858-0851-863A-084C18E39298}"/>
              </a:ext>
            </a:extLst>
          </p:cNvPr>
          <p:cNvSpPr/>
          <p:nvPr/>
        </p:nvSpPr>
        <p:spPr>
          <a:xfrm>
            <a:off x="6241211" y="1414584"/>
            <a:ext cx="3720140" cy="1250978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Privacy</a:t>
            </a:r>
            <a:br>
              <a:rPr lang="en-US" dirty="0"/>
            </a:br>
            <a:r>
              <a:rPr lang="en-US" dirty="0"/>
              <a:t>Zero data leakage. User target strings stay entirely local and never leave the host machine.</a:t>
            </a:r>
          </a:p>
        </p:txBody>
      </p:sp>
    </p:spTree>
    <p:extLst>
      <p:ext uri="{BB962C8B-B14F-4D97-AF65-F5344CB8AC3E}">
        <p14:creationId xmlns:p14="http://schemas.microsoft.com/office/powerpoint/2010/main" val="271166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7C49-8F8D-0A13-7710-7EBAD916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88"/>
            <a:ext cx="8745747" cy="768021"/>
          </a:xfrm>
        </p:spPr>
        <p:txBody>
          <a:bodyPr/>
          <a:lstStyle/>
          <a:p>
            <a:r>
              <a:rPr lang="en-US" dirty="0"/>
              <a:t>Functional and user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993C47-CF13-5E48-FAB1-ABE7651DF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955400"/>
              </p:ext>
            </p:extLst>
          </p:nvPr>
        </p:nvGraphicFramePr>
        <p:xfrm>
          <a:off x="838200" y="899959"/>
          <a:ext cx="11040376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92">
                  <a:extLst>
                    <a:ext uri="{9D8B030D-6E8A-4147-A177-3AD203B41FA5}">
                      <a16:colId xmlns:a16="http://schemas.microsoft.com/office/drawing/2014/main" val="107217596"/>
                    </a:ext>
                  </a:extLst>
                </a:gridCol>
                <a:gridCol w="3605842">
                  <a:extLst>
                    <a:ext uri="{9D8B030D-6E8A-4147-A177-3AD203B41FA5}">
                      <a16:colId xmlns:a16="http://schemas.microsoft.com/office/drawing/2014/main" val="3212104727"/>
                    </a:ext>
                  </a:extLst>
                </a:gridCol>
                <a:gridCol w="2725947">
                  <a:extLst>
                    <a:ext uri="{9D8B030D-6E8A-4147-A177-3AD203B41FA5}">
                      <a16:colId xmlns:a16="http://schemas.microsoft.com/office/drawing/2014/main" val="1511652310"/>
                    </a:ext>
                  </a:extLst>
                </a:gridCol>
                <a:gridCol w="3459195">
                  <a:extLst>
                    <a:ext uri="{9D8B030D-6E8A-4147-A177-3AD203B41FA5}">
                      <a16:colId xmlns:a16="http://schemas.microsoft.com/office/drawing/2014/main" val="3081220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 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to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 that…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Acceptance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28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my name or string into the system using 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can get more information about the name +string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Given a name I get the origin and meaning of the name. In addition I get similar sounding names and similar meaning names as well.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6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sure that the system handles profanity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Anyone can use the system safely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Given a profanity in any language (typed in English) give back some polite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20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the system to respond within 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user does not get bored and not move to another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time counter to show feedback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10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 the UI/FE to be clear simple and minimalistic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Learning curve is non-existent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Clean, single-input text box layout with zero clutter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to see metrics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 I can monitor the tool/system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report where developer can check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7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43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2ABAAD-BB05-8EC7-EC29-E77A7C2D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Guardrails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685FE6-1FAA-9958-43AC-334FEFBB2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04683"/>
              </p:ext>
            </p:extLst>
          </p:nvPr>
        </p:nvGraphicFramePr>
        <p:xfrm>
          <a:off x="970951" y="1383899"/>
          <a:ext cx="9311736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084">
                  <a:extLst>
                    <a:ext uri="{9D8B030D-6E8A-4147-A177-3AD203B41FA5}">
                      <a16:colId xmlns:a16="http://schemas.microsoft.com/office/drawing/2014/main" val="4167815387"/>
                    </a:ext>
                  </a:extLst>
                </a:gridCol>
                <a:gridCol w="6668652">
                  <a:extLst>
                    <a:ext uri="{9D8B030D-6E8A-4147-A177-3AD203B41FA5}">
                      <a16:colId xmlns:a16="http://schemas.microsoft.com/office/drawing/2014/main" val="3336885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3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Profanity 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Drop toxic or offensive words immediately and return polite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67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Language 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standard A-Z alphabetic text strings (ignoring non-English character sets for MVP).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7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 Least Typed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 empty strings, blank spaces, or null submissions to prevent system errors.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63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6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DA68-43B4-92D6-2ABE-A2A9FB73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166D1E-6468-0A88-2D21-363738DA4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841632"/>
              </p:ext>
            </p:extLst>
          </p:nvPr>
        </p:nvGraphicFramePr>
        <p:xfrm>
          <a:off x="838199" y="1368425"/>
          <a:ext cx="104451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717">
                  <a:extLst>
                    <a:ext uri="{9D8B030D-6E8A-4147-A177-3AD203B41FA5}">
                      <a16:colId xmlns:a16="http://schemas.microsoft.com/office/drawing/2014/main" val="2592602559"/>
                    </a:ext>
                  </a:extLst>
                </a:gridCol>
                <a:gridCol w="3481717">
                  <a:extLst>
                    <a:ext uri="{9D8B030D-6E8A-4147-A177-3AD203B41FA5}">
                      <a16:colId xmlns:a16="http://schemas.microsoft.com/office/drawing/2014/main" val="2170017154"/>
                    </a:ext>
                  </a:extLst>
                </a:gridCol>
                <a:gridCol w="3481717">
                  <a:extLst>
                    <a:ext uri="{9D8B030D-6E8A-4147-A177-3AD203B41FA5}">
                      <a16:colId xmlns:a16="http://schemas.microsoft.com/office/drawing/2014/main" val="1521829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Evaluation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 Metric (Acceptance Criteria)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55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Unit Testing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Isolated programmatic testing of prompt templates, extraction regex, and mock LLM API responses.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Deterministic Pass:</a:t>
                      </a:r>
                      <a:r>
                        <a:rPr lang="en-US" dirty="0"/>
                        <a:t> Zero dependency on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; ensures code logic and string formatting are mathematically flawless.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418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Model-Driven-Evaluation(Agent-on-Agent 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 a dedicated </a:t>
                      </a:r>
                      <a:r>
                        <a:rPr lang="en-US" b="1" dirty="0"/>
                        <a:t>Tester Agent</a:t>
                      </a:r>
                      <a:r>
                        <a:rPr lang="en-US" dirty="0"/>
                        <a:t> to bombard Project Pixie with hundreds of synthetic name inputs.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Consistency Check:</a:t>
                      </a:r>
                      <a:r>
                        <a:rPr lang="en-US"/>
                        <a:t> Pixie accurately extracts origin and meaning without hallucinating or breaking format over 100+ runs.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83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Behavioral Evaluation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Adversarial Red-Teaming</a:t>
                      </a:r>
                      <a:r>
                        <a:rPr lang="en-US" dirty="0"/>
                        <a:t> using a curated test dataset of restricted words and symbols.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100% Block Rate:</a:t>
                      </a:r>
                      <a:r>
                        <a:rPr lang="en-US" dirty="0"/>
                        <a:t> System properly catches toxic inputs and gracefully drops non-A-Z characters.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Performance (System Test)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 latency from the moment the user hits Enter until the local LLM responds.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Speed Benchmark:</a:t>
                      </a:r>
                      <a:r>
                        <a:rPr lang="en-US" dirty="0"/>
                        <a:t> System successfully returns responses in under </a:t>
                      </a:r>
                      <a:r>
                        <a:rPr lang="en-US" b="1" dirty="0"/>
                        <a:t>1 second</a:t>
                      </a:r>
                      <a:r>
                        <a:rPr lang="en-US" dirty="0"/>
                        <a:t> 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295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4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D07D-9CC7-E6BC-71B8-42B25714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Execution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900896-4DB0-1914-56D1-3560A9BEE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896276"/>
              </p:ext>
            </p:extLst>
          </p:nvPr>
        </p:nvGraphicFramePr>
        <p:xfrm>
          <a:off x="862642" y="1825625"/>
          <a:ext cx="1049115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758">
                  <a:extLst>
                    <a:ext uri="{9D8B030D-6E8A-4147-A177-3AD203B41FA5}">
                      <a16:colId xmlns:a16="http://schemas.microsoft.com/office/drawing/2014/main" val="2797587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87005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7159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cap="all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Input String</a:t>
                      </a:r>
                    </a:p>
                  </a:txBody>
                  <a:tcPr marL="121920" marR="121920" marT="91440" marB="91440" anchor="ctr"/>
                </a:tc>
                <a:tc>
                  <a:txBody>
                    <a:bodyPr/>
                    <a:lstStyle/>
                    <a:p>
                      <a:r>
                        <a:rPr lang="en-US" b="1" cap="all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Execution Path</a:t>
                      </a:r>
                    </a:p>
                  </a:txBody>
                  <a:tcPr marL="121920" marR="121920" marT="91440" marB="91440" anchor="ctr"/>
                </a:tc>
                <a:tc>
                  <a:txBody>
                    <a:bodyPr/>
                    <a:lstStyle/>
                    <a:p>
                      <a:r>
                        <a:rPr lang="en-US" b="1" cap="all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System Output Payload Response</a:t>
                      </a:r>
                    </a:p>
                  </a:txBody>
                  <a:tcPr marL="121920" marR="121920" marT="91440" marB="91440" anchor="ctr"/>
                </a:tc>
                <a:extLst>
                  <a:ext uri="{0D108BD9-81ED-4DB2-BD59-A6C34878D82A}">
                    <a16:rowId xmlns:a16="http://schemas.microsoft.com/office/drawing/2014/main" val="81699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"Priya"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Clean pass →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Ollama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inference → JSON parse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{"origin": "Sanskrit", "meaning": "Beloved", "variants": ["Preeya"]}</a:t>
                      </a: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376353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"Kenji"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Clean pass →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Ollama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inference → JSON parse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{"origin": "Japanese", "meaning": "Intelligent Second Son", "variants": ["Ken"]}</a:t>
                      </a: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2258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"DROP TABLE Names;"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Intercepted by Guardrail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→ Bypass LLM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Refusal: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"Invalid input. Please enter a valid alphabetic name structure."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131684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57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04FF-3D88-1706-B31D-398B9B45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and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BF78D-DEA6-EF5D-3410-0715983F7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629360"/>
              </p:ext>
            </p:extLst>
          </p:nvPr>
        </p:nvGraphicFramePr>
        <p:xfrm>
          <a:off x="838200" y="1443070"/>
          <a:ext cx="1074109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485">
                  <a:extLst>
                    <a:ext uri="{9D8B030D-6E8A-4147-A177-3AD203B41FA5}">
                      <a16:colId xmlns:a16="http://schemas.microsoft.com/office/drawing/2014/main" val="4228381698"/>
                    </a:ext>
                  </a:extLst>
                </a:gridCol>
                <a:gridCol w="3593692">
                  <a:extLst>
                    <a:ext uri="{9D8B030D-6E8A-4147-A177-3AD203B41FA5}">
                      <a16:colId xmlns:a16="http://schemas.microsoft.com/office/drawing/2014/main" val="78531851"/>
                    </a:ext>
                  </a:extLst>
                </a:gridCol>
                <a:gridCol w="2556088">
                  <a:extLst>
                    <a:ext uri="{9D8B030D-6E8A-4147-A177-3AD203B41FA5}">
                      <a16:colId xmlns:a16="http://schemas.microsoft.com/office/drawing/2014/main" val="3885899367"/>
                    </a:ext>
                  </a:extLst>
                </a:gridCol>
                <a:gridCol w="3072825">
                  <a:extLst>
                    <a:ext uri="{9D8B030D-6E8A-4147-A177-3AD203B41FA5}">
                      <a16:colId xmlns:a16="http://schemas.microsoft.com/office/drawing/2014/main" val="1367122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 in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Responsible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294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Discovery, Ideation &amp;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Ushasree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Jakilinki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82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PRD, Architecture &amp; Core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 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78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Unit Testing &amp; Model Evaluations (Evals)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 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566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Deployment &amp; Final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1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78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C678-E5DE-0496-C4CB-1A54636E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826"/>
          </a:xfrm>
        </p:spPr>
        <p:txBody>
          <a:bodyPr/>
          <a:lstStyle/>
          <a:p>
            <a:r>
              <a:rPr lang="en-US" dirty="0"/>
              <a:t>Metrics +KPIS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5869C1-B514-0736-3CB0-717743734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755700"/>
              </p:ext>
            </p:extLst>
          </p:nvPr>
        </p:nvGraphicFramePr>
        <p:xfrm>
          <a:off x="751934" y="1006116"/>
          <a:ext cx="10962736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684">
                  <a:extLst>
                    <a:ext uri="{9D8B030D-6E8A-4147-A177-3AD203B41FA5}">
                      <a16:colId xmlns:a16="http://schemas.microsoft.com/office/drawing/2014/main" val="3684108694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2538478515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1125553752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16363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Metric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What It Measures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Why It Matters for Project Pixie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Target Goal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2176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Token Generation Latency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Time elapsed from user input to the final generated text token.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Ensures local execution (Ollama) doesn't hang or freeze on standard laptops.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&lt; 10 seconds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end-to-end response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5734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Schema/Format Compliance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% of outputs that successfully parse into valid structured data (JSON/Markdown).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If the local LLM outputs raw messy text, your UI code breaks.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100%</a:t>
                      </a:r>
                      <a:r>
                        <a:rPr lang="en-US">
                          <a:effectLst/>
                          <a:latin typeface="Google Sans Text"/>
                        </a:rPr>
                        <a:t> compliance across unit test suites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15499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Guardrail Rejection 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% of adversarial or profane inputs successfully intercepted by your logic layer.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Proves that your regex and safety barriers are successfully protecting the core LLM.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100% intercept</a:t>
                      </a:r>
                      <a:r>
                        <a:rPr lang="en-US">
                          <a:effectLst/>
                          <a:latin typeface="Google Sans Text"/>
                        </a:rPr>
                        <a:t> on restricted test sets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5820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Hallucination 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% of generated outputs containing fabricated or nonsensical origins/meanings.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Measured by your 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Tester Agent</a:t>
                      </a:r>
                      <a:r>
                        <a:rPr lang="en-US">
                          <a:effectLst/>
                          <a:latin typeface="Google Sans Text"/>
                        </a:rPr>
                        <a:t> to guarantee high data integrity.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&lt; 5%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across automated test batches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1107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25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8C25-AAB5-8D47-FD28-D0C795B0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7"/>
            <a:ext cx="10515600" cy="773562"/>
          </a:xfrm>
        </p:spPr>
        <p:txBody>
          <a:bodyPr/>
          <a:lstStyle/>
          <a:p>
            <a:r>
              <a:rPr lang="en-US" dirty="0"/>
              <a:t>Project Risks &amp; Mitigation Strategies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216410-1AC3-0231-B236-6940747CB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111176"/>
              </p:ext>
            </p:extLst>
          </p:nvPr>
        </p:nvGraphicFramePr>
        <p:xfrm>
          <a:off x="838200" y="1169538"/>
          <a:ext cx="10515600" cy="5143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652113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867297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2280436"/>
                    </a:ext>
                  </a:extLst>
                </a:gridCol>
              </a:tblGrid>
              <a:tr h="394442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Identified Risk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Impacted KPI / Milestone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PM Mitigation Strategy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154928403"/>
                  </a:ext>
                </a:extLst>
              </a:tr>
              <a:tr h="148674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1. Local Compute Latency Spike:</a:t>
                      </a:r>
                      <a:r>
                        <a:rPr lang="en-US">
                          <a:effectLst/>
                          <a:latin typeface="Google Sans Text"/>
                        </a:rPr>
                        <a:t> The local model takes longer than 1.0 second to generate tokens on standard consumer laptops.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Performance Benchmark (&lt; 1.0s response target)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Implement aggressive 4-bit model quantization or drop parameter size (e.g., from a 7B model to a 1.5B/3B model) to preserve processing speed.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144068332"/>
                  </a:ext>
                </a:extLst>
              </a:tr>
              <a:tr h="1759818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2. Schema &amp; Formatting Drift:</a:t>
                      </a:r>
                      <a:r>
                        <a:rPr lang="en-US">
                          <a:effectLst/>
                          <a:latin typeface="Google Sans Text"/>
                        </a:rPr>
                        <a:t> The local model occasionally outputs raw text or bad markdown, breaking the frontend layout.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Schema/Format Compliance (100% JSON goal)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Use regex extraction fallback blocks in your Python code to isolate the JSON, or utilize structured generation settings in Ollama to force strict schema compliance.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94811311"/>
                  </a:ext>
                </a:extLst>
              </a:tr>
              <a:tr h="148674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3. Schedule Slippage (Single Resource):</a:t>
                      </a:r>
                      <a:r>
                        <a:rPr lang="en-US">
                          <a:effectLst/>
                          <a:latin typeface="Google Sans Text"/>
                        </a:rPr>
                        <a:t> Unexpected technical blockers consume hours, threatening the 130-hour timeline.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Schedule &amp; Final Validation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Establish strict feature freezes. If a blocker occurs, drop future extensions (like Multi-Language Support or Voice) to protect the core MVP delivery deadline. 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3913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52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5C73-161A-6B2B-7CA7-4D81FA3A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C184-EBB9-4420-2306-7F3B0163A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Token Costs: By design, leveraging local open-source models completely eliminates dependencies on third-party cloud APIs (like OpenAI or Anthropic). You can run thousands of test queries for free.</a:t>
            </a:r>
          </a:p>
          <a:p>
            <a:r>
              <a:rPr lang="en-US" dirty="0"/>
              <a:t>Hardware Utilization: The only resource utilized is your host machine's local compute power (CPU/GPU and RAM).</a:t>
            </a:r>
          </a:p>
        </p:txBody>
      </p:sp>
    </p:spTree>
    <p:extLst>
      <p:ext uri="{BB962C8B-B14F-4D97-AF65-F5344CB8AC3E}">
        <p14:creationId xmlns:p14="http://schemas.microsoft.com/office/powerpoint/2010/main" val="64161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0D80-6B58-955E-E6B7-F124D213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C026F-52CA-6108-605E-148CB54F1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Multi-Language Support (Localization): Expand the prompt architecture to translate name origins and meanings into multiple target languages based on user preference.</a:t>
            </a:r>
          </a:p>
          <a:p>
            <a:endParaRPr lang="en-US" dirty="0"/>
          </a:p>
          <a:p>
            <a:r>
              <a:rPr lang="en-US" dirty="0"/>
              <a:t>Multimodal Voice Integration: Implement Speech-to-Text (STT) for voice-activated inputs and Text-to-Speech (TTS) for audio-based output generation.</a:t>
            </a:r>
          </a:p>
          <a:p>
            <a:endParaRPr lang="en-US" dirty="0"/>
          </a:p>
          <a:p>
            <a:r>
              <a:rPr lang="en-US" dirty="0"/>
              <a:t>Historical Database Caching: Store previously searched names in a lightweight local database (like SQLite) to eliminate duplicate LLM inference calls and make response times instant for popular names.</a:t>
            </a:r>
          </a:p>
        </p:txBody>
      </p:sp>
    </p:spTree>
    <p:extLst>
      <p:ext uri="{BB962C8B-B14F-4D97-AF65-F5344CB8AC3E}">
        <p14:creationId xmlns:p14="http://schemas.microsoft.com/office/powerpoint/2010/main" val="284280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290D-C935-6FF6-D498-21B1FCD0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&amp; 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E7933B-CC9C-1E6B-7ED6-75DC78156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61779"/>
            <a:ext cx="103071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for technical feedback, architectural critiques, or feature suggestions.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i="1" dirty="0" err="1">
                <a:latin typeface="Arial" panose="020B0604020202020204" pitchFamily="34" charset="0"/>
              </a:rPr>
              <a:t>Ushasree</a:t>
            </a:r>
            <a:r>
              <a:rPr lang="en-US" altLang="en-US" sz="1800" i="1" dirty="0">
                <a:latin typeface="Arial" panose="020B0604020202020204" pitchFamily="34" charset="0"/>
              </a:rPr>
              <a:t> </a:t>
            </a:r>
            <a:r>
              <a:rPr lang="en-US" altLang="en-US" sz="1800" i="1" dirty="0" err="1">
                <a:latin typeface="Arial" panose="020B0604020202020204" pitchFamily="34" charset="0"/>
              </a:rPr>
              <a:t>Jakilinki</a:t>
            </a:r>
            <a:r>
              <a:rPr lang="en-US" altLang="en-US" sz="1800" i="1" dirty="0">
                <a:latin typeface="Arial" panose="020B0604020202020204" pitchFamily="34" charset="0"/>
              </a:rPr>
              <a:t>: </a:t>
            </a:r>
            <a:r>
              <a:rPr lang="en-US" altLang="en-US" sz="1800" i="1" dirty="0">
                <a:latin typeface="Arial" panose="020B0604020202020204" pitchFamily="34" charset="0"/>
                <a:hlinkClick r:id="rId2"/>
              </a:rPr>
              <a:t>auj012@gmail.com</a:t>
            </a:r>
            <a:r>
              <a:rPr lang="en-US" altLang="en-US" sz="1800" i="1" dirty="0">
                <a:latin typeface="Arial" panose="020B0604020202020204" pitchFamily="34" charset="0"/>
              </a:rPr>
              <a:t>; ushajaki@umich.edu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1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20352</TotalTime>
  <Words>1387</Words>
  <Application>Microsoft Office PowerPoint</Application>
  <PresentationFormat>Widescreen</PresentationFormat>
  <Paragraphs>191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Problem statement and System Objective</vt:lpstr>
      <vt:lpstr>PowerPoint Presentation</vt:lpstr>
      <vt:lpstr>AI card</vt:lpstr>
      <vt:lpstr>Functional and user requirements</vt:lpstr>
      <vt:lpstr>Guardrails</vt:lpstr>
      <vt:lpstr>Evals</vt:lpstr>
      <vt:lpstr>System Execution Examples</vt:lpstr>
      <vt:lpstr>Estimates and Schedule</vt:lpstr>
      <vt:lpstr>Metrics +KPIS</vt:lpstr>
      <vt:lpstr>Project Risks &amp; Mitigation Strategies</vt:lpstr>
      <vt:lpstr>Cost Analysis</vt:lpstr>
      <vt:lpstr>Future Extensions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 jamuna</dc:creator>
  <cp:lastModifiedBy>uma jamuna</cp:lastModifiedBy>
  <cp:revision>10</cp:revision>
  <cp:lastPrinted>2026-08-03T03:33:57Z</cp:lastPrinted>
  <dcterms:created xsi:type="dcterms:W3CDTF">2026-07-05T17:00:31Z</dcterms:created>
  <dcterms:modified xsi:type="dcterms:W3CDTF">2026-08-03T19:14:03Z</dcterms:modified>
</cp:coreProperties>
</file>